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14"/>
  </p:notesMasterIdLst>
  <p:sldIdLst>
    <p:sldId id="256" r:id="rId3"/>
    <p:sldId id="257" r:id="rId4"/>
    <p:sldId id="258" r:id="rId5"/>
    <p:sldId id="260" r:id="rId6"/>
    <p:sldId id="278" r:id="rId7"/>
    <p:sldId id="279" r:id="rId8"/>
    <p:sldId id="280" r:id="rId9"/>
    <p:sldId id="273" r:id="rId10"/>
    <p:sldId id="274" r:id="rId11"/>
    <p:sldId id="275" r:id="rId12"/>
    <p:sldId id="276" r:id="rId13"/>
  </p:sldIdLst>
  <p:sldSz cx="12192000" cy="6858000"/>
  <p:notesSz cx="6858000" cy="9144000"/>
  <p:embeddedFontLst>
    <p:embeddedFont>
      <p:font typeface="Gill Sans" panose="020B0604020202020204" charset="0"/>
      <p:regular r:id="rId15"/>
      <p:bold r:id="rId16"/>
    </p:embeddedFont>
    <p:embeddedFont>
      <p:font typeface="Gill Sans MT" panose="020B0502020104020203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2900" autoAdjust="0"/>
  </p:normalViewPr>
  <p:slideViewPr>
    <p:cSldViewPr snapToGrid="0">
      <p:cViewPr varScale="1">
        <p:scale>
          <a:sx n="36" d="100"/>
          <a:sy n="36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760" y="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:notes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c57646a95b_2_4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2c57646a95b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57646a95b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57646a95b_1_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2c57646a95b_1_5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4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57646a95b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57646a95b_1_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2c57646a95b_1_5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5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3446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57646a95b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57646a95b_1_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2c57646a95b_1_5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0923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57646a95b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57646a95b_1_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2c57646a95b_1_5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7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00248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4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:notes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8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8:notes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c78444e607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3" name="Google Shape;353;g2c78444e607_2_9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2c78444e607_2_9:notes"/>
          <p:cNvSpPr txBox="1"/>
          <p:nvPr/>
        </p:nvSpPr>
        <p:spPr>
          <a:xfrm>
            <a:off x="3884760" y="868536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4" name="Google Shape;364;p9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9:notes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5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6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6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6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446400" y="457200"/>
            <a:ext cx="3703320" cy="950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A3260"/>
          </a:solidFill>
          <a:ln>
            <a:noFill/>
          </a:ln>
        </p:spPr>
      </p:sp>
      <p:sp>
        <p:nvSpPr>
          <p:cNvPr id="11" name="Google Shape;11;p1"/>
          <p:cNvSpPr/>
          <p:nvPr/>
        </p:nvSpPr>
        <p:spPr>
          <a:xfrm>
            <a:off x="8042040" y="453600"/>
            <a:ext cx="3703320" cy="986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969FA7"/>
          </a:solidFill>
          <a:ln>
            <a:noFill/>
          </a:ln>
        </p:spPr>
      </p:sp>
      <p:sp>
        <p:nvSpPr>
          <p:cNvPr id="12" name="Google Shape;12;p1"/>
          <p:cNvSpPr/>
          <p:nvPr/>
        </p:nvSpPr>
        <p:spPr>
          <a:xfrm>
            <a:off x="4241880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590B8"/>
          </a:solidFill>
          <a:ln>
            <a:noFill/>
          </a:ln>
        </p:spPr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7606080" y="5956200"/>
            <a:ext cx="284472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581040" y="5951880"/>
            <a:ext cx="69170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0558440" y="59562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1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446400" y="457200"/>
            <a:ext cx="3703320" cy="950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A3260"/>
          </a:solidFill>
          <a:ln>
            <a:noFill/>
          </a:ln>
        </p:spPr>
      </p:sp>
      <p:sp>
        <p:nvSpPr>
          <p:cNvPr id="68" name="Google Shape;68;p14"/>
          <p:cNvSpPr/>
          <p:nvPr/>
        </p:nvSpPr>
        <p:spPr>
          <a:xfrm>
            <a:off x="8042040" y="453600"/>
            <a:ext cx="3703320" cy="986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969FA7"/>
          </a:solidFill>
          <a:ln>
            <a:noFill/>
          </a:ln>
        </p:spPr>
      </p:sp>
      <p:sp>
        <p:nvSpPr>
          <p:cNvPr id="69" name="Google Shape;69;p14"/>
          <p:cNvSpPr/>
          <p:nvPr/>
        </p:nvSpPr>
        <p:spPr>
          <a:xfrm>
            <a:off x="4241880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590B8"/>
          </a:solidFill>
          <a:ln>
            <a:noFill/>
          </a:ln>
        </p:spPr>
      </p:sp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6188400" y="2228040"/>
            <a:ext cx="5422320" cy="363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7606080" y="5956200"/>
            <a:ext cx="284472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581040" y="5951880"/>
            <a:ext cx="69170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10558440" y="59562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4590B8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1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/>
          <p:nvPr/>
        </p:nvSpPr>
        <p:spPr>
          <a:xfrm>
            <a:off x="441000" y="619920"/>
            <a:ext cx="11310138" cy="15908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0" name="Google Shape;130;p27"/>
          <p:cNvSpPr txBox="1"/>
          <p:nvPr/>
        </p:nvSpPr>
        <p:spPr>
          <a:xfrm>
            <a:off x="561600" y="1639440"/>
            <a:ext cx="11299320" cy="36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lvl="0" algn="ctr"/>
            <a:r>
              <a:rPr lang="fr-FR" sz="18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Boussakine Adel</a:t>
            </a:r>
            <a:r>
              <a:rPr lang="fr-FR" sz="1800" b="0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          Alves Fernandes Victor.        </a:t>
            </a:r>
            <a:r>
              <a:rPr lang="fr-FR" sz="1800" b="0" i="0" u="none" strike="noStrike" cap="none" dirty="0" err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Itouchene</a:t>
            </a:r>
            <a:r>
              <a:rPr lang="fr-FR" sz="1800" b="0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 Yassine.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7"/>
          <p:cNvSpPr txBox="1"/>
          <p:nvPr/>
        </p:nvSpPr>
        <p:spPr>
          <a:xfrm>
            <a:off x="494075" y="718680"/>
            <a:ext cx="11256925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1519238" algn="l"/>
              </a:tabLst>
            </a:pPr>
            <a:r>
              <a:rPr lang="fr-FR" sz="3600" b="0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CRÉATION D’UN </a:t>
            </a:r>
            <a:r>
              <a:rPr lang="fr-FR" sz="36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JEU D’ECHEC</a:t>
            </a:r>
            <a:endParaRPr lang="fr-FR" sz="3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F13430E-F768-DD80-7441-C710FC760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04" y="2548944"/>
            <a:ext cx="5558996" cy="3293515"/>
          </a:xfrm>
          <a:prstGeom prst="rect">
            <a:avLst/>
          </a:prstGeom>
        </p:spPr>
      </p:pic>
      <p:pic>
        <p:nvPicPr>
          <p:cNvPr id="1028" name="Picture 4" descr="Remédier à l'écran noir de Windows 10 - Le Monde Informatique">
            <a:extLst>
              <a:ext uri="{FF2B5EF4-FFF2-40B4-BE49-F238E27FC236}">
                <a16:creationId xmlns:a16="http://schemas.microsoft.com/office/drawing/2014/main" id="{004CD7D6-FDF3-ACE6-ACA0-890367B87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260" y="2320711"/>
            <a:ext cx="5286690" cy="3521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/>
        </p:nvSpPr>
        <p:spPr>
          <a:xfrm>
            <a:off x="581040" y="702000"/>
            <a:ext cx="1102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SOMMAIRE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8"/>
          <p:cNvSpPr/>
          <p:nvPr/>
        </p:nvSpPr>
        <p:spPr>
          <a:xfrm>
            <a:off x="440813" y="231450"/>
            <a:ext cx="11310138" cy="14842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9" name="Google Shape;139;p28"/>
          <p:cNvSpPr txBox="1"/>
          <p:nvPr/>
        </p:nvSpPr>
        <p:spPr>
          <a:xfrm>
            <a:off x="687788" y="429850"/>
            <a:ext cx="10816200" cy="10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900">
                <a:solidFill>
                  <a:schemeClr val="lt1"/>
                </a:solidFill>
              </a:rPr>
              <a:t>Sommaire</a:t>
            </a:r>
            <a:endParaRPr sz="4900">
              <a:solidFill>
                <a:schemeClr val="lt1"/>
              </a:solidFill>
            </a:endParaRPr>
          </a:p>
        </p:txBody>
      </p:sp>
      <p:sp>
        <p:nvSpPr>
          <p:cNvPr id="140" name="Google Shape;140;p28"/>
          <p:cNvSpPr txBox="1"/>
          <p:nvPr/>
        </p:nvSpPr>
        <p:spPr>
          <a:xfrm>
            <a:off x="581040" y="2392737"/>
            <a:ext cx="4316698" cy="3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Autofit/>
          </a:bodyPr>
          <a:lstStyle/>
          <a:p>
            <a:pPr marL="457200" marR="0" lvl="0" indent="-36449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0"/>
              <a:buChar char="●"/>
            </a:pPr>
            <a:r>
              <a:rPr lang="fr-FR" sz="2800" dirty="0">
                <a:solidFill>
                  <a:schemeClr val="bg1"/>
                </a:solidFill>
              </a:rPr>
              <a:t>But du projet</a:t>
            </a:r>
            <a:endParaRPr sz="2800" dirty="0">
              <a:solidFill>
                <a:schemeClr val="bg1"/>
              </a:solidFill>
            </a:endParaRPr>
          </a:p>
          <a:p>
            <a:pPr marL="457200" lvl="0" indent="-36449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0"/>
              <a:buChar char="●"/>
            </a:pPr>
            <a:r>
              <a:rPr lang="fr-FR" sz="2800" dirty="0">
                <a:solidFill>
                  <a:schemeClr val="bg1"/>
                </a:solidFill>
              </a:rPr>
              <a:t>Gestion des projets</a:t>
            </a:r>
            <a:endParaRPr sz="2800" dirty="0">
              <a:solidFill>
                <a:schemeClr val="bg1"/>
              </a:solidFill>
            </a:endParaRPr>
          </a:p>
          <a:p>
            <a:pPr marL="457200" marR="0" lvl="0" indent="-36449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0"/>
              <a:buChar char="●"/>
            </a:pPr>
            <a:r>
              <a:rPr lang="fr-FR" sz="2800" dirty="0">
                <a:solidFill>
                  <a:schemeClr val="bg1"/>
                </a:solidFill>
              </a:rPr>
              <a:t>Codage du jeu</a:t>
            </a:r>
            <a:endParaRPr sz="2800" dirty="0">
              <a:solidFill>
                <a:schemeClr val="bg1"/>
              </a:solidFill>
            </a:endParaRPr>
          </a:p>
          <a:p>
            <a:pPr marL="457200" marR="0" lvl="0" indent="-36449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0"/>
              <a:buChar char="●"/>
            </a:pPr>
            <a:r>
              <a:rPr lang="fr-FR" sz="2800" dirty="0">
                <a:solidFill>
                  <a:schemeClr val="bg1"/>
                </a:solidFill>
              </a:rPr>
              <a:t>Logiciels utilisés</a:t>
            </a:r>
            <a:endParaRPr sz="2800" dirty="0">
              <a:solidFill>
                <a:schemeClr val="bg1"/>
              </a:solidFill>
            </a:endParaRPr>
          </a:p>
          <a:p>
            <a:pPr marL="457200" marR="0" lvl="0" indent="-36449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0"/>
              <a:buChar char="●"/>
            </a:pPr>
            <a:r>
              <a:rPr lang="fr-FR" sz="2800" dirty="0">
                <a:solidFill>
                  <a:schemeClr val="bg1"/>
                </a:solidFill>
              </a:rPr>
              <a:t>Problèmes rencontrés</a:t>
            </a:r>
            <a:endParaRPr sz="2800" dirty="0">
              <a:solidFill>
                <a:schemeClr val="bg1"/>
              </a:solidFill>
            </a:endParaRPr>
          </a:p>
        </p:txBody>
      </p:sp>
      <p:pic>
        <p:nvPicPr>
          <p:cNvPr id="2050" name="Picture 2" descr="Vecteurs et illustrations de Sommaire en téléchargement gratuit">
            <a:extLst>
              <a:ext uri="{FF2B5EF4-FFF2-40B4-BE49-F238E27FC236}">
                <a16:creationId xmlns:a16="http://schemas.microsoft.com/office/drawing/2014/main" id="{9AA1343E-72A3-351B-15F7-8FF48BE26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080" y="1987850"/>
            <a:ext cx="5664092" cy="3769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/>
        </p:nvSpPr>
        <p:spPr>
          <a:xfrm>
            <a:off x="581040" y="702000"/>
            <a:ext cx="11029680" cy="10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SOMMAIRE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9"/>
          <p:cNvSpPr/>
          <p:nvPr/>
        </p:nvSpPr>
        <p:spPr>
          <a:xfrm>
            <a:off x="440813" y="231450"/>
            <a:ext cx="11310138" cy="14842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48" name="Google Shape;148;p29"/>
          <p:cNvSpPr txBox="1"/>
          <p:nvPr/>
        </p:nvSpPr>
        <p:spPr>
          <a:xfrm>
            <a:off x="687775" y="429850"/>
            <a:ext cx="10816200" cy="10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900" dirty="0">
                <a:solidFill>
                  <a:schemeClr val="lt1"/>
                </a:solidFill>
              </a:rPr>
              <a:t>But du projet.</a:t>
            </a:r>
            <a:endParaRPr sz="4900" dirty="0">
              <a:solidFill>
                <a:schemeClr val="lt1"/>
              </a:solidFill>
            </a:endParaRPr>
          </a:p>
        </p:txBody>
      </p:sp>
      <p:sp>
        <p:nvSpPr>
          <p:cNvPr id="150" name="Google Shape;150;p29"/>
          <p:cNvSpPr txBox="1"/>
          <p:nvPr/>
        </p:nvSpPr>
        <p:spPr>
          <a:xfrm>
            <a:off x="581040" y="2186298"/>
            <a:ext cx="11089374" cy="3736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spcCol="5040000" anchor="b" anchorCtr="1">
            <a:noAutofit/>
          </a:bodyPr>
          <a:lstStyle/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2400" dirty="0">
              <a:solidFill>
                <a:schemeClr val="bg1"/>
              </a:solidFill>
            </a:endParaRPr>
          </a:p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>
                <a:solidFill>
                  <a:schemeClr val="bg1"/>
                </a:solidFill>
              </a:rPr>
              <a:t>Un Jeu d'</a:t>
            </a:r>
            <a:r>
              <a:rPr lang="fr-FR" sz="2400" dirty="0" err="1">
                <a:solidFill>
                  <a:schemeClr val="bg1"/>
                </a:solidFill>
              </a:rPr>
              <a:t>echecs</a:t>
            </a:r>
            <a:r>
              <a:rPr lang="fr-FR" sz="2400" dirty="0">
                <a:solidFill>
                  <a:schemeClr val="bg1"/>
                </a:solidFill>
              </a:rPr>
              <a:t> avec 4 pièces</a:t>
            </a:r>
          </a:p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>
                <a:solidFill>
                  <a:schemeClr val="bg1"/>
                </a:solidFill>
              </a:rPr>
              <a:t>Tour, Reine, fou et le cheval.</a:t>
            </a:r>
          </a:p>
          <a:p>
            <a: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endParaRPr lang="fr-FR" sz="2400" dirty="0">
              <a:solidFill>
                <a:schemeClr val="bg1"/>
              </a:solidFill>
            </a:endParaRPr>
          </a:p>
          <a:p>
            <a: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2400" dirty="0">
                <a:solidFill>
                  <a:schemeClr val="bg1"/>
                </a:solidFill>
              </a:rPr>
              <a:t>Joué avec ordi ou deux personnes.</a:t>
            </a:r>
          </a:p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>
                <a:solidFill>
                  <a:schemeClr val="bg1"/>
                </a:solidFill>
              </a:rPr>
              <a:t>Un plateau de 8* 8</a:t>
            </a:r>
          </a:p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2400" dirty="0">
              <a:solidFill>
                <a:schemeClr val="bg1"/>
              </a:solidFill>
            </a:endParaRPr>
          </a:p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2400" dirty="0">
              <a:solidFill>
                <a:schemeClr val="bg1"/>
              </a:solidFill>
            </a:endParaRPr>
          </a:p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2400" dirty="0">
              <a:solidFill>
                <a:schemeClr val="bg1"/>
              </a:solidFill>
            </a:endParaRPr>
          </a:p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2400" dirty="0">
              <a:solidFill>
                <a:schemeClr val="bg1"/>
              </a:solidFill>
            </a:endParaRPr>
          </a:p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2400" dirty="0">
              <a:solidFill>
                <a:schemeClr val="bg1"/>
              </a:solidFill>
            </a:endParaRPr>
          </a:p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>
                <a:solidFill>
                  <a:schemeClr val="bg1"/>
                </a:solidFill>
              </a:rPr>
              <a:t>La possibilité de sauvegarder une partie dans un fichier et pouvoir la reprendre.</a:t>
            </a:r>
          </a:p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2400" dirty="0">
              <a:solidFill>
                <a:schemeClr val="bg1"/>
              </a:solidFill>
            </a:endParaRPr>
          </a:p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2400" dirty="0">
              <a:solidFill>
                <a:schemeClr val="bg1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40" dirty="0">
              <a:solidFill>
                <a:schemeClr val="dk1"/>
              </a:solidFill>
            </a:endParaRPr>
          </a:p>
        </p:txBody>
      </p:sp>
      <p:pic>
        <p:nvPicPr>
          <p:cNvPr id="3074" name="Picture 2" descr="Logo De L'icône De La Mission Ou De but D'affaires Dans Le Projet Noir Sur  Fond Blanc Isolé. Vecteur ENV 10 Illustration de Vecteur - Illustration du  aspirations, idée: 178123919">
            <a:extLst>
              <a:ext uri="{FF2B5EF4-FFF2-40B4-BE49-F238E27FC236}">
                <a16:creationId xmlns:a16="http://schemas.microsoft.com/office/drawing/2014/main" id="{8DD6623D-4677-5741-DB52-98BB89DD7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324" y="2186286"/>
            <a:ext cx="3209102" cy="320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/>
        </p:nvSpPr>
        <p:spPr>
          <a:xfrm>
            <a:off x="581040" y="702000"/>
            <a:ext cx="1102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SOMMAIRE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1"/>
          <p:cNvSpPr/>
          <p:nvPr/>
        </p:nvSpPr>
        <p:spPr>
          <a:xfrm>
            <a:off x="581040" y="368103"/>
            <a:ext cx="11329923" cy="12525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70" name="Google Shape;170;p31"/>
          <p:cNvSpPr txBox="1"/>
          <p:nvPr/>
        </p:nvSpPr>
        <p:spPr>
          <a:xfrm>
            <a:off x="1520851" y="541316"/>
            <a:ext cx="94503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dirty="0">
                <a:solidFill>
                  <a:schemeClr val="lt1"/>
                </a:solidFill>
              </a:rPr>
              <a:t>Gestion des projets</a:t>
            </a:r>
            <a:endParaRPr sz="4800" dirty="0">
              <a:solidFill>
                <a:schemeClr val="lt1"/>
              </a:solidFill>
            </a:endParaRPr>
          </a:p>
        </p:txBody>
      </p:sp>
      <p:sp>
        <p:nvSpPr>
          <p:cNvPr id="172" name="Google Shape;172;p31"/>
          <p:cNvSpPr txBox="1"/>
          <p:nvPr/>
        </p:nvSpPr>
        <p:spPr>
          <a:xfrm>
            <a:off x="3950040" y="1888731"/>
            <a:ext cx="42918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solidFill>
                  <a:schemeClr val="bg1"/>
                </a:solidFill>
              </a:rPr>
              <a:t>GIT HUB</a:t>
            </a:r>
            <a:endParaRPr sz="2200" b="1" dirty="0">
              <a:solidFill>
                <a:schemeClr val="bg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B8F147D-B7CB-A437-0B47-DED14A9A2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013" y="2374520"/>
            <a:ext cx="10241973" cy="41678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/>
        </p:nvSpPr>
        <p:spPr>
          <a:xfrm>
            <a:off x="581040" y="702000"/>
            <a:ext cx="1102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SOMMAIRE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1"/>
          <p:cNvSpPr/>
          <p:nvPr/>
        </p:nvSpPr>
        <p:spPr>
          <a:xfrm>
            <a:off x="581040" y="368103"/>
            <a:ext cx="11329923" cy="12525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70" name="Google Shape;170;p31"/>
          <p:cNvSpPr txBox="1"/>
          <p:nvPr/>
        </p:nvSpPr>
        <p:spPr>
          <a:xfrm>
            <a:off x="1520851" y="541316"/>
            <a:ext cx="94503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dirty="0">
                <a:solidFill>
                  <a:schemeClr val="lt1"/>
                </a:solidFill>
              </a:rPr>
              <a:t>Gestion des projets</a:t>
            </a:r>
            <a:endParaRPr sz="4800" dirty="0">
              <a:solidFill>
                <a:schemeClr val="lt1"/>
              </a:solidFill>
            </a:endParaRPr>
          </a:p>
        </p:txBody>
      </p:sp>
      <p:sp>
        <p:nvSpPr>
          <p:cNvPr id="172" name="Google Shape;172;p31"/>
          <p:cNvSpPr txBox="1"/>
          <p:nvPr/>
        </p:nvSpPr>
        <p:spPr>
          <a:xfrm>
            <a:off x="3950040" y="1888731"/>
            <a:ext cx="42918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solidFill>
                  <a:schemeClr val="bg1"/>
                </a:solidFill>
              </a:rPr>
              <a:t>Trello</a:t>
            </a:r>
            <a:endParaRPr sz="2200" b="1" dirty="0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5067805-A3CF-FDBA-F9B8-C1B3CE801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41" y="2341703"/>
            <a:ext cx="10633318" cy="414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96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/>
        </p:nvSpPr>
        <p:spPr>
          <a:xfrm>
            <a:off x="581040" y="702000"/>
            <a:ext cx="1102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SOMMAIRE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1"/>
          <p:cNvSpPr/>
          <p:nvPr/>
        </p:nvSpPr>
        <p:spPr>
          <a:xfrm>
            <a:off x="581040" y="368103"/>
            <a:ext cx="11329923" cy="12525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70" name="Google Shape;170;p31"/>
          <p:cNvSpPr txBox="1"/>
          <p:nvPr/>
        </p:nvSpPr>
        <p:spPr>
          <a:xfrm>
            <a:off x="1520851" y="567362"/>
            <a:ext cx="94503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dirty="0">
                <a:solidFill>
                  <a:schemeClr val="lt1"/>
                </a:solidFill>
              </a:rPr>
              <a:t>Codage</a:t>
            </a:r>
            <a:endParaRPr sz="4800" dirty="0">
              <a:solidFill>
                <a:schemeClr val="lt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3E6FBC6-FABB-46D4-F9F3-B2355BD6C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071" y="1850338"/>
            <a:ext cx="9523080" cy="473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609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/>
        </p:nvSpPr>
        <p:spPr>
          <a:xfrm>
            <a:off x="581040" y="702000"/>
            <a:ext cx="1102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SOMMAIRE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1"/>
          <p:cNvSpPr/>
          <p:nvPr/>
        </p:nvSpPr>
        <p:spPr>
          <a:xfrm>
            <a:off x="581040" y="368103"/>
            <a:ext cx="11329923" cy="12525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70" name="Google Shape;170;p31"/>
          <p:cNvSpPr txBox="1"/>
          <p:nvPr/>
        </p:nvSpPr>
        <p:spPr>
          <a:xfrm>
            <a:off x="1520851" y="567362"/>
            <a:ext cx="94503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dirty="0">
                <a:solidFill>
                  <a:schemeClr val="lt1"/>
                </a:solidFill>
              </a:rPr>
              <a:t>Fonctionnement du jeu </a:t>
            </a:r>
            <a:endParaRPr sz="4800" dirty="0">
              <a:solidFill>
                <a:schemeClr val="lt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8276C4D-6635-D17A-FDDD-5BFCA2DF8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08" y="3591542"/>
            <a:ext cx="4051187" cy="126873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DA3486F-86AA-4788-CA0D-15DCE7C8A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295" y="1715700"/>
            <a:ext cx="3868887" cy="415961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98F366E-D931-7B75-0DC8-DD2A1E6006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226" y="3591542"/>
            <a:ext cx="3965858" cy="226931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FC8FF7E-B701-0049-59E9-E44E4D1F44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78" y="1755278"/>
            <a:ext cx="4051187" cy="183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437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A326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pic>
        <p:nvPicPr>
          <p:cNvPr id="318" name="Google Shape;318;p44" descr="Valeurs numériques"/>
          <p:cNvPicPr preferRelativeResize="0"/>
          <p:nvPr/>
        </p:nvPicPr>
        <p:blipFill rotWithShape="1">
          <a:blip r:embed="rId3">
            <a:alphaModFix/>
          </a:blip>
          <a:srcRect t="10680" r="9090" b="12712"/>
          <a:stretch/>
        </p:blipFill>
        <p:spPr>
          <a:xfrm>
            <a:off x="0" y="-4132"/>
            <a:ext cx="12192120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44"/>
          <p:cNvGrpSpPr/>
          <p:nvPr/>
        </p:nvGrpSpPr>
        <p:grpSpPr>
          <a:xfrm>
            <a:off x="438120" y="457200"/>
            <a:ext cx="7507080" cy="5935320"/>
            <a:chOff x="438120" y="457200"/>
            <a:chExt cx="7507080" cy="5935320"/>
          </a:xfrm>
        </p:grpSpPr>
        <p:sp>
          <p:nvSpPr>
            <p:cNvPr id="320" name="Google Shape;320;p44"/>
            <p:cNvSpPr/>
            <p:nvPr/>
          </p:nvSpPr>
          <p:spPr>
            <a:xfrm>
              <a:off x="438120" y="618120"/>
              <a:ext cx="7503840" cy="577440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A3260">
                <a:alpha val="96860"/>
              </a:srgb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1" name="Google Shape;321;p44"/>
            <p:cNvSpPr/>
            <p:nvPr/>
          </p:nvSpPr>
          <p:spPr>
            <a:xfrm>
              <a:off x="438120" y="457200"/>
              <a:ext cx="3703320" cy="9504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A3260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2" name="Google Shape;322;p44"/>
            <p:cNvSpPr/>
            <p:nvPr/>
          </p:nvSpPr>
          <p:spPr>
            <a:xfrm>
              <a:off x="4241880" y="457200"/>
              <a:ext cx="3703320" cy="9144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4590B8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23" name="Google Shape;323;p44"/>
          <p:cNvSpPr/>
          <p:nvPr/>
        </p:nvSpPr>
        <p:spPr>
          <a:xfrm rot="5400000">
            <a:off x="5430600" y="3059280"/>
            <a:ext cx="5843520" cy="8218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A326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24" name="Google Shape;324;p44"/>
          <p:cNvSpPr/>
          <p:nvPr/>
        </p:nvSpPr>
        <p:spPr>
          <a:xfrm rot="5400000">
            <a:off x="5910840" y="3059280"/>
            <a:ext cx="5843520" cy="8218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A326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25" name="Google Shape;325;p44"/>
          <p:cNvSpPr/>
          <p:nvPr/>
        </p:nvSpPr>
        <p:spPr>
          <a:xfrm rot="5400000">
            <a:off x="6252480" y="3059280"/>
            <a:ext cx="5843520" cy="8218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A326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26" name="Google Shape;326;p44"/>
          <p:cNvSpPr/>
          <p:nvPr/>
        </p:nvSpPr>
        <p:spPr>
          <a:xfrm rot="5400000">
            <a:off x="6974289" y="3059276"/>
            <a:ext cx="5843502" cy="8218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A326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27" name="Google Shape;327;p44"/>
          <p:cNvSpPr/>
          <p:nvPr/>
        </p:nvSpPr>
        <p:spPr>
          <a:xfrm rot="5400000">
            <a:off x="7568280" y="3059280"/>
            <a:ext cx="5843520" cy="8218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A326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grpSp>
        <p:nvGrpSpPr>
          <p:cNvPr id="328" name="Google Shape;328;p44"/>
          <p:cNvGrpSpPr/>
          <p:nvPr/>
        </p:nvGrpSpPr>
        <p:grpSpPr>
          <a:xfrm>
            <a:off x="509579" y="1835058"/>
            <a:ext cx="10320120" cy="4199413"/>
            <a:chOff x="581040" y="1537727"/>
            <a:chExt cx="10320120" cy="4199413"/>
          </a:xfrm>
        </p:grpSpPr>
        <p:sp>
          <p:nvSpPr>
            <p:cNvPr id="329" name="Google Shape;329;p44"/>
            <p:cNvSpPr/>
            <p:nvPr/>
          </p:nvSpPr>
          <p:spPr>
            <a:xfrm>
              <a:off x="581040" y="1537727"/>
              <a:ext cx="10320120" cy="938880"/>
            </a:xfrm>
            <a:custGeom>
              <a:avLst/>
              <a:gdLst/>
              <a:ahLst/>
              <a:cxnLst/>
              <a:rect l="l" t="t" r="r" b="b"/>
              <a:pathLst>
                <a:path w="10320297" h="904909" extrusionOk="0">
                  <a:moveTo>
                    <a:pt x="0" y="150821"/>
                  </a:moveTo>
                  <a:cubicBezTo>
                    <a:pt x="0" y="67525"/>
                    <a:pt x="67525" y="0"/>
                    <a:pt x="150821" y="0"/>
                  </a:cubicBezTo>
                  <a:lnTo>
                    <a:pt x="10169476" y="0"/>
                  </a:lnTo>
                  <a:cubicBezTo>
                    <a:pt x="10252772" y="0"/>
                    <a:pt x="10320297" y="67525"/>
                    <a:pt x="10320297" y="150821"/>
                  </a:cubicBezTo>
                  <a:lnTo>
                    <a:pt x="10320297" y="754088"/>
                  </a:lnTo>
                  <a:cubicBezTo>
                    <a:pt x="10320297" y="837384"/>
                    <a:pt x="10252772" y="904909"/>
                    <a:pt x="10169476" y="904909"/>
                  </a:cubicBezTo>
                  <a:lnTo>
                    <a:pt x="150821" y="904909"/>
                  </a:lnTo>
                  <a:cubicBezTo>
                    <a:pt x="67525" y="904909"/>
                    <a:pt x="0" y="837384"/>
                    <a:pt x="0" y="754088"/>
                  </a:cubicBezTo>
                  <a:lnTo>
                    <a:pt x="0" y="150821"/>
                  </a:lnTo>
                  <a:close/>
                </a:path>
              </a:pathLst>
            </a:custGeom>
            <a:gradFill>
              <a:gsLst>
                <a:gs pos="0">
                  <a:srgbClr val="629FC1"/>
                </a:gs>
                <a:gs pos="100000">
                  <a:srgbClr val="3A799A"/>
                </a:gs>
              </a:gsLst>
              <a:lin ang="5400000" scaled="0"/>
            </a:gradFill>
            <a:ln>
              <a:noFill/>
            </a:ln>
            <a:effectLst>
              <a:outerShdw dist="25560" dir="5400000">
                <a:srgbClr val="000000">
                  <a:alpha val="54901"/>
                </a:srgbClr>
              </a:outerShdw>
            </a:effectLst>
          </p:spPr>
          <p:txBody>
            <a:bodyPr spcFirstLastPara="1" wrap="square" lIns="135700" tIns="135700" rIns="135700" bIns="135700" anchor="ctr" anchorCtr="0">
              <a:noAutofit/>
            </a:bodyPr>
            <a:lstStyle/>
            <a:p>
              <a:pPr marL="134784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400" b="0" strike="noStrike" dirty="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rPr>
                <a:t> Gestion et répartition des </a:t>
              </a:r>
              <a:r>
                <a:rPr lang="fr-FR" sz="2400" dirty="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rPr>
                <a:t>tâches</a:t>
              </a:r>
              <a:r>
                <a:rPr lang="fr-FR" sz="2400" b="0" strike="noStrike" dirty="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rPr>
                <a:t> du groupe.</a:t>
              </a:r>
              <a:endParaRPr sz="2400" b="0" strike="noStrik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4"/>
            <p:cNvSpPr/>
            <p:nvPr/>
          </p:nvSpPr>
          <p:spPr>
            <a:xfrm>
              <a:off x="581040" y="2681640"/>
              <a:ext cx="10320120" cy="887400"/>
            </a:xfrm>
            <a:custGeom>
              <a:avLst/>
              <a:gdLst/>
              <a:ahLst/>
              <a:cxnLst/>
              <a:rect l="l" t="t" r="r" b="b"/>
              <a:pathLst>
                <a:path w="10320297" h="855270" extrusionOk="0">
                  <a:moveTo>
                    <a:pt x="0" y="142548"/>
                  </a:moveTo>
                  <a:cubicBezTo>
                    <a:pt x="0" y="63821"/>
                    <a:pt x="63821" y="0"/>
                    <a:pt x="142548" y="0"/>
                  </a:cubicBezTo>
                  <a:lnTo>
                    <a:pt x="10177749" y="0"/>
                  </a:lnTo>
                  <a:cubicBezTo>
                    <a:pt x="10256476" y="0"/>
                    <a:pt x="10320297" y="63821"/>
                    <a:pt x="10320297" y="142548"/>
                  </a:cubicBezTo>
                  <a:lnTo>
                    <a:pt x="10320297" y="712722"/>
                  </a:lnTo>
                  <a:cubicBezTo>
                    <a:pt x="10320297" y="791449"/>
                    <a:pt x="10256476" y="855270"/>
                    <a:pt x="10177749" y="855270"/>
                  </a:cubicBezTo>
                  <a:lnTo>
                    <a:pt x="142548" y="855270"/>
                  </a:lnTo>
                  <a:cubicBezTo>
                    <a:pt x="63821" y="855270"/>
                    <a:pt x="0" y="791449"/>
                    <a:pt x="0" y="712722"/>
                  </a:cubicBezTo>
                  <a:lnTo>
                    <a:pt x="0" y="142548"/>
                  </a:lnTo>
                  <a:close/>
                </a:path>
              </a:pathLst>
            </a:custGeom>
            <a:gradFill>
              <a:gsLst>
                <a:gs pos="0">
                  <a:srgbClr val="629FC1"/>
                </a:gs>
                <a:gs pos="100000">
                  <a:srgbClr val="3A799A"/>
                </a:gs>
              </a:gsLst>
              <a:lin ang="5400000" scaled="0"/>
            </a:gradFill>
            <a:ln>
              <a:noFill/>
            </a:ln>
            <a:effectLst>
              <a:outerShdw dist="25560" dir="5400000">
                <a:srgbClr val="000000">
                  <a:alpha val="54901"/>
                </a:srgbClr>
              </a:outerShdw>
            </a:effectLst>
          </p:spPr>
          <p:txBody>
            <a:bodyPr spcFirstLastPara="1" wrap="square" lIns="133200" tIns="133200" rIns="133200" bIns="133200" anchor="ctr" anchorCtr="0">
              <a:noAutofit/>
            </a:bodyPr>
            <a:lstStyle/>
            <a:p>
              <a:pPr marL="134784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400" b="0" i="0" dirty="0">
                  <a:solidFill>
                    <a:schemeClr val="bg1"/>
                  </a:solidFill>
                  <a:effectLst/>
                  <a:latin typeface="Gill Sans MT" panose="020B0502020104020203" pitchFamily="34" charset="0"/>
                </a:rPr>
                <a:t> Un environnement de développement intégré (IDE) permettant de programmer en C et en C++.</a:t>
              </a:r>
              <a:endParaRPr sz="1800" b="0" strike="noStrike" dirty="0">
                <a:solidFill>
                  <a:schemeClr val="bg1"/>
                </a:solidFill>
                <a:latin typeface="Gill Sans MT" panose="020B0502020104020203" pitchFamily="34" charset="0"/>
                <a:sym typeface="Arial"/>
              </a:endParaRPr>
            </a:p>
          </p:txBody>
        </p:sp>
        <p:sp>
          <p:nvSpPr>
            <p:cNvPr id="331" name="Google Shape;331;p44"/>
            <p:cNvSpPr/>
            <p:nvPr/>
          </p:nvSpPr>
          <p:spPr>
            <a:xfrm>
              <a:off x="581040" y="3743460"/>
              <a:ext cx="10320120" cy="887400"/>
            </a:xfrm>
            <a:custGeom>
              <a:avLst/>
              <a:gdLst/>
              <a:ahLst/>
              <a:cxnLst/>
              <a:rect l="l" t="t" r="r" b="b"/>
              <a:pathLst>
                <a:path w="10320297" h="855270" extrusionOk="0">
                  <a:moveTo>
                    <a:pt x="0" y="142548"/>
                  </a:moveTo>
                  <a:cubicBezTo>
                    <a:pt x="0" y="63821"/>
                    <a:pt x="63821" y="0"/>
                    <a:pt x="142548" y="0"/>
                  </a:cubicBezTo>
                  <a:lnTo>
                    <a:pt x="10177749" y="0"/>
                  </a:lnTo>
                  <a:cubicBezTo>
                    <a:pt x="10256476" y="0"/>
                    <a:pt x="10320297" y="63821"/>
                    <a:pt x="10320297" y="142548"/>
                  </a:cubicBezTo>
                  <a:lnTo>
                    <a:pt x="10320297" y="712722"/>
                  </a:lnTo>
                  <a:cubicBezTo>
                    <a:pt x="10320297" y="791449"/>
                    <a:pt x="10256476" y="855270"/>
                    <a:pt x="10177749" y="855270"/>
                  </a:cubicBezTo>
                  <a:lnTo>
                    <a:pt x="142548" y="855270"/>
                  </a:lnTo>
                  <a:cubicBezTo>
                    <a:pt x="63821" y="855270"/>
                    <a:pt x="0" y="791449"/>
                    <a:pt x="0" y="712722"/>
                  </a:cubicBezTo>
                  <a:lnTo>
                    <a:pt x="0" y="142548"/>
                  </a:lnTo>
                  <a:close/>
                </a:path>
              </a:pathLst>
            </a:custGeom>
            <a:gradFill>
              <a:gsLst>
                <a:gs pos="0">
                  <a:srgbClr val="629FC1"/>
                </a:gs>
                <a:gs pos="100000">
                  <a:srgbClr val="3A799A"/>
                </a:gs>
              </a:gsLst>
              <a:lin ang="5400000" scaled="0"/>
            </a:gradFill>
            <a:ln>
              <a:noFill/>
            </a:ln>
            <a:effectLst>
              <a:outerShdw dist="25560" dir="5400000">
                <a:srgbClr val="000000">
                  <a:alpha val="54901"/>
                </a:srgbClr>
              </a:outerShdw>
            </a:effectLst>
          </p:spPr>
          <p:txBody>
            <a:bodyPr spcFirstLastPara="1" wrap="square" lIns="171350" tIns="171350" rIns="171350" bIns="171350" anchor="ctr" anchorCtr="0">
              <a:noAutofit/>
            </a:bodyPr>
            <a:lstStyle/>
            <a:p>
              <a:pPr marL="134784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3400" b="0" strike="noStrike" dirty="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r>
                <a:rPr lang="fr-FR" sz="2400" b="0" strike="noStrike" dirty="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rPr>
                <a:t>Gestion, communication et envoie de lien</a:t>
              </a:r>
              <a:r>
                <a:rPr lang="fr-FR" sz="3400" b="0" strike="noStrike" dirty="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rPr>
                <a:t>. </a:t>
              </a:r>
              <a:endParaRPr sz="3400" b="0" strike="noStrik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44"/>
            <p:cNvSpPr/>
            <p:nvPr/>
          </p:nvSpPr>
          <p:spPr>
            <a:xfrm>
              <a:off x="581040" y="4849740"/>
              <a:ext cx="10320120" cy="887400"/>
            </a:xfrm>
            <a:custGeom>
              <a:avLst/>
              <a:gdLst/>
              <a:ahLst/>
              <a:cxnLst/>
              <a:rect l="l" t="t" r="r" b="b"/>
              <a:pathLst>
                <a:path w="10320297" h="855270" extrusionOk="0">
                  <a:moveTo>
                    <a:pt x="0" y="142548"/>
                  </a:moveTo>
                  <a:cubicBezTo>
                    <a:pt x="0" y="63821"/>
                    <a:pt x="63821" y="0"/>
                    <a:pt x="142548" y="0"/>
                  </a:cubicBezTo>
                  <a:lnTo>
                    <a:pt x="10177749" y="0"/>
                  </a:lnTo>
                  <a:cubicBezTo>
                    <a:pt x="10256476" y="0"/>
                    <a:pt x="10320297" y="63821"/>
                    <a:pt x="10320297" y="142548"/>
                  </a:cubicBezTo>
                  <a:lnTo>
                    <a:pt x="10320297" y="712722"/>
                  </a:lnTo>
                  <a:cubicBezTo>
                    <a:pt x="10320297" y="791449"/>
                    <a:pt x="10256476" y="855270"/>
                    <a:pt x="10177749" y="855270"/>
                  </a:cubicBezTo>
                  <a:lnTo>
                    <a:pt x="142548" y="855270"/>
                  </a:lnTo>
                  <a:cubicBezTo>
                    <a:pt x="63821" y="855270"/>
                    <a:pt x="0" y="791449"/>
                    <a:pt x="0" y="712722"/>
                  </a:cubicBezTo>
                  <a:lnTo>
                    <a:pt x="0" y="142548"/>
                  </a:lnTo>
                  <a:close/>
                </a:path>
              </a:pathLst>
            </a:custGeom>
            <a:gradFill>
              <a:gsLst>
                <a:gs pos="0">
                  <a:srgbClr val="629FC1"/>
                </a:gs>
                <a:gs pos="100000">
                  <a:srgbClr val="3A799A"/>
                </a:gs>
              </a:gsLst>
              <a:lin ang="5400000" scaled="0"/>
            </a:gradFill>
            <a:ln>
              <a:noFill/>
            </a:ln>
            <a:effectLst>
              <a:outerShdw dist="25560" dir="5400000">
                <a:srgbClr val="000000">
                  <a:alpha val="54901"/>
                </a:srgbClr>
              </a:outerShdw>
            </a:effectLst>
          </p:spPr>
          <p:txBody>
            <a:bodyPr spcFirstLastPara="1" wrap="square" lIns="171350" tIns="171350" rIns="171350" bIns="171350" anchor="ctr" anchorCtr="0">
              <a:noAutofit/>
            </a:bodyPr>
            <a:lstStyle/>
            <a:p>
              <a:pPr marL="134784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400" dirty="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rPr>
                <a:t>U</a:t>
              </a:r>
              <a:r>
                <a:rPr lang="fr-FR" sz="2400" b="0" strike="noStrike" dirty="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rPr>
                <a:t>n service web d'hébergement et de gestion de développement de logiciels.</a:t>
              </a:r>
              <a:endParaRPr sz="2400" b="0" strike="noStrike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Google Shape;169;p31">
            <a:extLst>
              <a:ext uri="{FF2B5EF4-FFF2-40B4-BE49-F238E27FC236}">
                <a16:creationId xmlns:a16="http://schemas.microsoft.com/office/drawing/2014/main" id="{1E8C46C9-B9E5-4A7A-0CBB-137C2AD2D8D8}"/>
              </a:ext>
            </a:extLst>
          </p:cNvPr>
          <p:cNvSpPr/>
          <p:nvPr/>
        </p:nvSpPr>
        <p:spPr>
          <a:xfrm>
            <a:off x="581040" y="723059"/>
            <a:ext cx="10177199" cy="89758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33" name="Google Shape;333;p44"/>
          <p:cNvSpPr/>
          <p:nvPr/>
        </p:nvSpPr>
        <p:spPr>
          <a:xfrm>
            <a:off x="528119" y="1939282"/>
            <a:ext cx="1413000" cy="7210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22300" cap="flat" cmpd="sng">
            <a:solidFill>
              <a:srgbClr val="050F2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Trello</a:t>
            </a:r>
            <a:endParaRPr sz="18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4"/>
          <p:cNvSpPr/>
          <p:nvPr/>
        </p:nvSpPr>
        <p:spPr>
          <a:xfrm>
            <a:off x="509579" y="3062131"/>
            <a:ext cx="1413000" cy="7210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22300" cap="flat" cmpd="sng">
            <a:solidFill>
              <a:srgbClr val="050F2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latin typeface="Gill Sans"/>
                <a:sym typeface="Gill Sans"/>
              </a:rPr>
              <a:t>DEV C++</a:t>
            </a:r>
            <a:endParaRPr sz="18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4"/>
          <p:cNvSpPr/>
          <p:nvPr/>
        </p:nvSpPr>
        <p:spPr>
          <a:xfrm>
            <a:off x="570892" y="4123960"/>
            <a:ext cx="1413018" cy="72106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22300" cap="flat" cmpd="sng">
            <a:solidFill>
              <a:srgbClr val="050F2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strike="noStrike" dirty="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Discord</a:t>
            </a:r>
            <a:endParaRPr sz="18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4"/>
          <p:cNvSpPr txBox="1"/>
          <p:nvPr/>
        </p:nvSpPr>
        <p:spPr>
          <a:xfrm>
            <a:off x="1234619" y="608359"/>
            <a:ext cx="9523621" cy="112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b="0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LOGICIELS UTILISÉS</a:t>
            </a:r>
            <a:endParaRPr sz="28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4"/>
          <p:cNvSpPr/>
          <p:nvPr/>
        </p:nvSpPr>
        <p:spPr>
          <a:xfrm>
            <a:off x="532721" y="5204262"/>
            <a:ext cx="1451189" cy="7210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22300" cap="flat" cmpd="sng">
            <a:solidFill>
              <a:srgbClr val="050F2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strike="noStrike" dirty="0">
                <a:latin typeface="Arial"/>
                <a:ea typeface="Arial"/>
                <a:cs typeface="Arial"/>
                <a:sym typeface="Arial"/>
              </a:rPr>
              <a:t>Git Hub</a:t>
            </a:r>
            <a:endParaRPr sz="18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69;p31">
            <a:extLst>
              <a:ext uri="{FF2B5EF4-FFF2-40B4-BE49-F238E27FC236}">
                <a16:creationId xmlns:a16="http://schemas.microsoft.com/office/drawing/2014/main" id="{EC488A51-5F68-196D-6142-F24E7FF7F202}"/>
              </a:ext>
            </a:extLst>
          </p:cNvPr>
          <p:cNvSpPr/>
          <p:nvPr/>
        </p:nvSpPr>
        <p:spPr>
          <a:xfrm>
            <a:off x="431038" y="611436"/>
            <a:ext cx="11329923" cy="12525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47" name="Google Shape;347;p45"/>
          <p:cNvSpPr txBox="1"/>
          <p:nvPr/>
        </p:nvSpPr>
        <p:spPr>
          <a:xfrm>
            <a:off x="869490" y="2388287"/>
            <a:ext cx="6641100" cy="50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800" b="0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fr-FR" sz="1800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Difficulté de se partager les taches.</a:t>
            </a: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endParaRPr lang="fr-FR" sz="1800" dirty="0">
              <a:solidFill>
                <a:schemeClr val="bg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fr-FR" sz="1800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Avoir un final convenable graphiquement</a:t>
            </a: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endParaRPr lang="fr-FR" sz="1800" dirty="0">
              <a:solidFill>
                <a:schemeClr val="bg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endParaRPr lang="fr-FR" sz="1800" dirty="0">
              <a:latin typeface="Gill Sans"/>
              <a:ea typeface="Gill Sans"/>
              <a:cs typeface="Gill Sans"/>
              <a:sym typeface="Gill Sans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endParaRPr sz="1800" dirty="0">
              <a:latin typeface="Gill Sans"/>
              <a:ea typeface="Gill Sans"/>
              <a:cs typeface="Gill Sans"/>
              <a:sym typeface="Gill Sans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Char char="⮚"/>
            </a:pPr>
            <a:endParaRPr sz="18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strike="noStrike" dirty="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18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5"/>
          <p:cNvSpPr txBox="1"/>
          <p:nvPr/>
        </p:nvSpPr>
        <p:spPr>
          <a:xfrm>
            <a:off x="869490" y="707692"/>
            <a:ext cx="10446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4800" dirty="0">
                <a:solidFill>
                  <a:schemeClr val="lt1"/>
                </a:solidFill>
              </a:rPr>
              <a:t>Problèmes rencontrés</a:t>
            </a:r>
            <a:endParaRPr sz="4800" dirty="0">
              <a:solidFill>
                <a:schemeClr val="lt1"/>
              </a:solidFill>
            </a:endParaRPr>
          </a:p>
        </p:txBody>
      </p:sp>
      <p:pic>
        <p:nvPicPr>
          <p:cNvPr id="4100" name="Picture 4" descr="mélanger icône pour problème, dilemme, complication ...">
            <a:extLst>
              <a:ext uri="{FF2B5EF4-FFF2-40B4-BE49-F238E27FC236}">
                <a16:creationId xmlns:a16="http://schemas.microsoft.com/office/drawing/2014/main" id="{5DA4A448-67F0-1B04-01D7-353DDC275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320" y="2186940"/>
            <a:ext cx="3326130" cy="32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69;p31">
            <a:extLst>
              <a:ext uri="{FF2B5EF4-FFF2-40B4-BE49-F238E27FC236}">
                <a16:creationId xmlns:a16="http://schemas.microsoft.com/office/drawing/2014/main" id="{E137F897-8FAC-61EE-35BD-05D21764834A}"/>
              </a:ext>
            </a:extLst>
          </p:cNvPr>
          <p:cNvSpPr/>
          <p:nvPr/>
        </p:nvSpPr>
        <p:spPr>
          <a:xfrm>
            <a:off x="430978" y="572246"/>
            <a:ext cx="11329923" cy="12525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57" name="Google Shape;357;p46"/>
          <p:cNvSpPr txBox="1"/>
          <p:nvPr/>
        </p:nvSpPr>
        <p:spPr>
          <a:xfrm>
            <a:off x="6095940" y="2663750"/>
            <a:ext cx="6641100" cy="50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fr-FR" sz="1800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Utilisation de nouvelle bibliothèque vocabulaire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fr-FR" sz="1800" dirty="0">
              <a:solidFill>
                <a:schemeClr val="bg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fr-FR" sz="1800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Première création de jeux </a:t>
            </a:r>
            <a:r>
              <a:rPr lang="fr-FR" sz="1800" dirty="0" err="1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video</a:t>
            </a:r>
            <a:r>
              <a:rPr lang="fr-FR" sz="1800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fr-FR" sz="1800" dirty="0">
              <a:solidFill>
                <a:schemeClr val="bg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1800" b="0" strike="noStrike" dirty="0">
              <a:solidFill>
                <a:schemeClr val="bg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ill Sans"/>
              <a:ea typeface="Gill Sans"/>
              <a:cs typeface="Gill Sans"/>
              <a:sym typeface="Gill Sans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Char char="⮚"/>
            </a:pPr>
            <a:endParaRPr sz="1800" dirty="0"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strike="noStrike" dirty="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18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strike="noStrike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8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6"/>
          <p:cNvSpPr txBox="1"/>
          <p:nvPr/>
        </p:nvSpPr>
        <p:spPr>
          <a:xfrm>
            <a:off x="603900" y="686173"/>
            <a:ext cx="10446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4800" dirty="0">
                <a:solidFill>
                  <a:schemeClr val="lt1"/>
                </a:solidFill>
              </a:rPr>
              <a:t>Compétences acquises</a:t>
            </a:r>
            <a:endParaRPr sz="4800" dirty="0">
              <a:solidFill>
                <a:schemeClr val="lt1"/>
              </a:solidFill>
            </a:endParaRPr>
          </a:p>
        </p:txBody>
      </p:sp>
      <p:pic>
        <p:nvPicPr>
          <p:cNvPr id="5122" name="Picture 2" descr="Groupe GR on X: &quot;[#Tips 1] Établir son CV ! Pour cela, faites le point sur  vos expériences : n'hésitez pas à mettre vos compétences développées sous  forme de verbes d'actions :">
            <a:extLst>
              <a:ext uri="{FF2B5EF4-FFF2-40B4-BE49-F238E27FC236}">
                <a16:creationId xmlns:a16="http://schemas.microsoft.com/office/drawing/2014/main" id="{F2A0ED05-3B40-53E2-A304-F4B8E8F8A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00" y="2663750"/>
            <a:ext cx="5375950" cy="298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7"/>
          <p:cNvSpPr/>
          <p:nvPr/>
        </p:nvSpPr>
        <p:spPr>
          <a:xfrm>
            <a:off x="446400" y="2590567"/>
            <a:ext cx="11310120" cy="37630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B3642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68" name="Google Shape;368;p47"/>
          <p:cNvSpPr/>
          <p:nvPr/>
        </p:nvSpPr>
        <p:spPr>
          <a:xfrm>
            <a:off x="446400" y="792745"/>
            <a:ext cx="11310138" cy="179782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B3642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69" name="Google Shape;369;p47"/>
          <p:cNvSpPr txBox="1"/>
          <p:nvPr/>
        </p:nvSpPr>
        <p:spPr>
          <a:xfrm>
            <a:off x="1927654" y="2807212"/>
            <a:ext cx="8822724" cy="821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0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FIN DU PROJET ECHEC</a:t>
            </a:r>
            <a:endParaRPr sz="36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7"/>
          <p:cNvSpPr/>
          <p:nvPr/>
        </p:nvSpPr>
        <p:spPr>
          <a:xfrm>
            <a:off x="379675" y="403000"/>
            <a:ext cx="11415600" cy="17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69;p31">
            <a:extLst>
              <a:ext uri="{FF2B5EF4-FFF2-40B4-BE49-F238E27FC236}">
                <a16:creationId xmlns:a16="http://schemas.microsoft.com/office/drawing/2014/main" id="{ABFD5169-3B1E-0D0F-2F65-4E2DF52D9A66}"/>
              </a:ext>
            </a:extLst>
          </p:cNvPr>
          <p:cNvSpPr/>
          <p:nvPr/>
        </p:nvSpPr>
        <p:spPr>
          <a:xfrm>
            <a:off x="446400" y="794075"/>
            <a:ext cx="11310138" cy="89758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Google Shape;169;p31">
            <a:extLst>
              <a:ext uri="{FF2B5EF4-FFF2-40B4-BE49-F238E27FC236}">
                <a16:creationId xmlns:a16="http://schemas.microsoft.com/office/drawing/2014/main" id="{F5311D82-C62C-8E2E-6C9A-4491F569C046}"/>
              </a:ext>
            </a:extLst>
          </p:cNvPr>
          <p:cNvSpPr/>
          <p:nvPr/>
        </p:nvSpPr>
        <p:spPr>
          <a:xfrm>
            <a:off x="446382" y="5456066"/>
            <a:ext cx="11310138" cy="89758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169;p31">
            <a:extLst>
              <a:ext uri="{FF2B5EF4-FFF2-40B4-BE49-F238E27FC236}">
                <a16:creationId xmlns:a16="http://schemas.microsoft.com/office/drawing/2014/main" id="{3FE18CD1-8AF2-DEE8-1DDC-EADC8B383398}"/>
              </a:ext>
            </a:extLst>
          </p:cNvPr>
          <p:cNvSpPr/>
          <p:nvPr/>
        </p:nvSpPr>
        <p:spPr>
          <a:xfrm rot="16200000">
            <a:off x="-1885278" y="3124405"/>
            <a:ext cx="5560902" cy="89758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" name="Google Shape;169;p31">
            <a:extLst>
              <a:ext uri="{FF2B5EF4-FFF2-40B4-BE49-F238E27FC236}">
                <a16:creationId xmlns:a16="http://schemas.microsoft.com/office/drawing/2014/main" id="{D0C36EC1-E8CF-B065-78D9-3E1147E021B2}"/>
              </a:ext>
            </a:extLst>
          </p:cNvPr>
          <p:cNvSpPr/>
          <p:nvPr/>
        </p:nvSpPr>
        <p:spPr>
          <a:xfrm rot="16200000">
            <a:off x="8553617" y="3124406"/>
            <a:ext cx="5560902" cy="89758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192</Words>
  <Application>Microsoft Office PowerPoint</Application>
  <PresentationFormat>Grand écran</PresentationFormat>
  <Paragraphs>78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11</vt:i4>
      </vt:variant>
    </vt:vector>
  </HeadingPairs>
  <TitlesOfParts>
    <vt:vector size="19" baseType="lpstr">
      <vt:lpstr>Calibri</vt:lpstr>
      <vt:lpstr>Gill Sans MT</vt:lpstr>
      <vt:lpstr>Times New Roman</vt:lpstr>
      <vt:lpstr>Gill Sans</vt:lpstr>
      <vt:lpstr>Noto Sans Symbols</vt:lpstr>
      <vt:lpstr>Arial</vt:lpstr>
      <vt:lpstr>Office Theme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victor fernandes</dc:creator>
  <cp:lastModifiedBy>victor fernandes</cp:lastModifiedBy>
  <cp:revision>48</cp:revision>
  <dcterms:modified xsi:type="dcterms:W3CDTF">2024-10-19T13:28:43Z</dcterms:modified>
</cp:coreProperties>
</file>